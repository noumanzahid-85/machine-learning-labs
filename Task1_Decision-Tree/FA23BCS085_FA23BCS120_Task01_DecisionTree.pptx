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212" y="1958975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/>
              <a:t>Breast Cancer Detection Using Decision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9812" y="3886200"/>
            <a:ext cx="6400800" cy="1752600"/>
          </a:xfrm>
        </p:spPr>
        <p:txBody>
          <a:bodyPr>
            <a:normAutofit/>
          </a:bodyPr>
          <a:lstStyle/>
          <a:p>
            <a:r>
              <a:rPr dirty="0"/>
              <a:t>Prepared by:</a:t>
            </a:r>
            <a:br>
              <a:rPr lang="en-US" dirty="0"/>
            </a:br>
            <a:r>
              <a:rPr lang="en-US" dirty="0"/>
              <a:t>Abdul Haseeb</a:t>
            </a:r>
            <a:br>
              <a:rPr lang="en-US" dirty="0"/>
            </a:br>
            <a:r>
              <a:rPr lang="en-US" dirty="0"/>
              <a:t>Nouman Zahid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Evaluation:</a:t>
            </a:r>
          </a:p>
          <a:p>
            <a:r>
              <a:rPr dirty="0"/>
              <a:t>Accuracy comparison across different feature engineering approaches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Feature Categories:</a:t>
            </a:r>
          </a:p>
          <a:p>
            <a:pPr marL="0" indent="0">
              <a:buNone/>
            </a:pPr>
            <a:r>
              <a:rPr dirty="0"/>
              <a:t>• Mean values (10 features): radius, texture, perimeter, area, etc.</a:t>
            </a:r>
          </a:p>
          <a:p>
            <a:pPr marL="0" indent="0">
              <a:buNone/>
            </a:pPr>
            <a:r>
              <a:rPr dirty="0"/>
              <a:t>• Standard error values (10 features)</a:t>
            </a:r>
          </a:p>
          <a:p>
            <a:pPr marL="0" indent="0">
              <a:buNone/>
            </a:pPr>
            <a:r>
              <a:rPr dirty="0"/>
              <a:t>• Worst values (10 features)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Three-Approach Comparison:</a:t>
            </a:r>
          </a:p>
          <a:p>
            <a:pPr marL="0" indent="0">
              <a:buNone/>
            </a:pPr>
            <a:r>
              <a:rPr dirty="0"/>
              <a:t>1. Full Feature Set (30 features)</a:t>
            </a:r>
          </a:p>
          <a:p>
            <a:pPr marL="457200" lvl="1" indent="0">
              <a:buNone/>
            </a:pPr>
            <a:r>
              <a:rPr dirty="0"/>
              <a:t>- Train decision tree on all original features</a:t>
            </a:r>
          </a:p>
          <a:p>
            <a:pPr marL="0" indent="0">
              <a:buNone/>
            </a:pPr>
            <a:r>
              <a:rPr dirty="0"/>
              <a:t>2. Reduced Feature Set (correlated features removed)</a:t>
            </a:r>
          </a:p>
          <a:p>
            <a:pPr marL="457200" lvl="1" indent="0">
              <a:buNone/>
            </a:pPr>
            <a:r>
              <a:rPr dirty="0"/>
              <a:t>- Remove highly correlated features (&gt;0.35 correlation)</a:t>
            </a:r>
          </a:p>
          <a:p>
            <a:pPr marL="457200" lvl="1" indent="0">
              <a:buNone/>
            </a:pPr>
            <a:r>
              <a:rPr dirty="0"/>
              <a:t>- Reduce dimensionality while maintaining information</a:t>
            </a:r>
          </a:p>
          <a:p>
            <a:pPr marL="0" indent="0">
              <a:buNone/>
            </a:pPr>
            <a:r>
              <a:rPr dirty="0"/>
              <a:t>3. PCA Features (10 principal components)</a:t>
            </a:r>
          </a:p>
          <a:p>
            <a:pPr marL="457200" lvl="1" indent="0">
              <a:buNone/>
            </a:pPr>
            <a:r>
              <a:rPr dirty="0"/>
              <a:t>- Apply PCA to reduce from 30 to 10 dimensions</a:t>
            </a:r>
          </a:p>
          <a:p>
            <a:pPr marL="457200" lvl="1" indent="0">
              <a:buNone/>
            </a:pPr>
            <a:r>
              <a:rPr dirty="0"/>
              <a:t>- Capture maximum variance in fewer components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Benefits:</a:t>
            </a:r>
          </a:p>
          <a:p>
            <a:pPr marL="0" indent="0">
              <a:buNone/>
            </a:pPr>
            <a:r>
              <a:rPr dirty="0"/>
              <a:t>• Reduces model complexity and training time</a:t>
            </a:r>
          </a:p>
          <a:p>
            <a:pPr marL="0" indent="0">
              <a:buNone/>
            </a:pPr>
            <a:r>
              <a:rPr dirty="0"/>
              <a:t>• Prevents overfitting due to redundant features</a:t>
            </a:r>
          </a:p>
          <a:p>
            <a:pPr marL="0" indent="0">
              <a:buNone/>
            </a:pPr>
            <a:r>
              <a:rPr dirty="0"/>
              <a:t>• Improves model interpretability</a:t>
            </a:r>
          </a:p>
        </p:txBody>
      </p:sp>
      <p:pic>
        <p:nvPicPr>
          <p:cNvPr id="5" name="Picture 4" descr="heatmap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34290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Reduction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91025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Feature Reduction Impact:</a:t>
            </a:r>
          </a:p>
          <a:p>
            <a:pPr marL="0" indent="0">
              <a:buNone/>
            </a:pPr>
            <a:r>
              <a:rPr dirty="0"/>
              <a:t>• Original dataset: 30 features</a:t>
            </a:r>
          </a:p>
          <a:p>
            <a:pPr marL="0" indent="0">
              <a:buNone/>
            </a:pPr>
            <a:r>
              <a:rPr dirty="0"/>
              <a:t>• Features removed: Highly correlated pairs (&gt;0.35)</a:t>
            </a:r>
          </a:p>
          <a:p>
            <a:pPr marL="0" indent="0">
              <a:buNone/>
            </a:pPr>
            <a:r>
              <a:rPr dirty="0"/>
              <a:t>• Reduced dataset: Variable size (maintains most information)</a:t>
            </a:r>
          </a:p>
          <a:p>
            <a:pPr marL="0" indent="0">
              <a:buNone/>
            </a:pPr>
            <a:r>
              <a:rPr dirty="0"/>
              <a:t>• Goal: Balance between dimensionality reduction and information retention</a:t>
            </a:r>
          </a:p>
        </p:txBody>
      </p:sp>
      <p:pic>
        <p:nvPicPr>
          <p:cNvPr id="5" name="Picture 4" descr="heatmap_redu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606" y="310896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 Component Analysis (PCA)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215051" cy="4525963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PCA Benefits:</a:t>
            </a:r>
          </a:p>
          <a:p>
            <a:pPr marL="0" indent="0">
              <a:buNone/>
            </a:pPr>
            <a:r>
              <a:rPr dirty="0"/>
              <a:t>• Significant dimensionality reduction (30 → 10 features)</a:t>
            </a:r>
          </a:p>
          <a:p>
            <a:pPr marL="0" indent="0">
              <a:buNone/>
            </a:pPr>
            <a:r>
              <a:rPr dirty="0"/>
              <a:t>• Captures maximum variance in fewer dimensions</a:t>
            </a:r>
          </a:p>
          <a:p>
            <a:pPr marL="0" indent="0">
              <a:buNone/>
            </a:pPr>
            <a:r>
              <a:rPr dirty="0"/>
              <a:t>• Removes noise and redundant information</a:t>
            </a:r>
          </a:p>
        </p:txBody>
      </p:sp>
      <p:pic>
        <p:nvPicPr>
          <p:cNvPr id="5" name="Picture 4" descr="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412" y="2651125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Training Approaches:</a:t>
            </a:r>
          </a:p>
          <a:p>
            <a:pPr marL="0" indent="0">
              <a:buNone/>
            </a:pPr>
            <a:r>
              <a:rPr dirty="0"/>
              <a:t>1. Full Features: All 30 original features</a:t>
            </a:r>
          </a:p>
          <a:p>
            <a:pPr marL="0" indent="0">
              <a:buNone/>
            </a:pPr>
            <a:r>
              <a:rPr dirty="0"/>
              <a:t>2. Reduced Features: Correlated features removed</a:t>
            </a:r>
          </a:p>
          <a:p>
            <a:pPr marL="0" indent="0">
              <a:buNone/>
            </a:pPr>
            <a:r>
              <a:rPr dirty="0"/>
              <a:t>3. PCA Features: 10 principal 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Key Findings:</a:t>
            </a:r>
          </a:p>
          <a:p>
            <a:pPr marL="0" indent="0">
              <a:buNone/>
            </a:pPr>
            <a:r>
              <a:rPr dirty="0"/>
              <a:t>• All approaches achieve high accuracy (&gt;90%)</a:t>
            </a:r>
          </a:p>
          <a:p>
            <a:pPr marL="0" indent="0">
              <a:buNone/>
            </a:pPr>
            <a:r>
              <a:rPr dirty="0"/>
              <a:t>• Full feature set performs slightly better</a:t>
            </a:r>
          </a:p>
          <a:p>
            <a:pPr marL="0" indent="0">
              <a:buNone/>
            </a:pPr>
            <a:r>
              <a:rPr dirty="0"/>
              <a:t>• Reduced features maintain good performance with fewer dimensions</a:t>
            </a:r>
          </a:p>
          <a:p>
            <a:pPr marL="0" indent="0">
              <a:buNone/>
            </a:pPr>
            <a:r>
              <a:rPr dirty="0"/>
              <a:t>• PCA provides good dimensionality reduction with minimal accuracy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Results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0213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Confusion Matrix Analysis:</a:t>
            </a:r>
          </a:p>
          <a:p>
            <a:pPr marL="0" indent="0">
              <a:buNone/>
            </a:pPr>
            <a:r>
              <a:rPr dirty="0"/>
              <a:t>• Full Features: High true positive and true negative rates</a:t>
            </a:r>
          </a:p>
          <a:p>
            <a:pPr marL="0" indent="0">
              <a:buNone/>
            </a:pPr>
            <a:r>
              <a:rPr dirty="0"/>
              <a:t>• Reduced Features: Minimal performance degradation</a:t>
            </a:r>
          </a:p>
          <a:p>
            <a:pPr marL="0" indent="0">
              <a:buNone/>
            </a:pPr>
            <a:r>
              <a:rPr dirty="0"/>
              <a:t>• PCA Features: Good performance with significant dimensionality reduction</a:t>
            </a:r>
          </a:p>
        </p:txBody>
      </p:sp>
      <p:pic>
        <p:nvPicPr>
          <p:cNvPr id="4" name="Picture 3" descr="confusi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11" y="4502331"/>
            <a:ext cx="2743200" cy="2286000"/>
          </a:xfrm>
          <a:prstGeom prst="rect">
            <a:avLst/>
          </a:prstGeom>
        </p:spPr>
      </p:pic>
      <p:pic>
        <p:nvPicPr>
          <p:cNvPr id="5" name="Picture 4" descr="confusion_redu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805" y="4561114"/>
            <a:ext cx="2743200" cy="2286000"/>
          </a:xfrm>
          <a:prstGeom prst="rect">
            <a:avLst/>
          </a:prstGeom>
        </p:spPr>
      </p:pic>
      <p:pic>
        <p:nvPicPr>
          <p:cNvPr id="6" name="Picture 5" descr="confusion_p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503" y="4502331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243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Feature Importance Insights:</a:t>
            </a:r>
          </a:p>
          <a:p>
            <a:pPr marL="0" indent="0">
              <a:buNone/>
            </a:pPr>
            <a:r>
              <a:rPr dirty="0"/>
              <a:t>• Most important features vary across different approaches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Full features: Original feature importance ranking</a:t>
            </a:r>
          </a:p>
          <a:p>
            <a:pPr marL="0" indent="0">
              <a:buNone/>
            </a:pPr>
            <a:r>
              <a:rPr dirty="0"/>
              <a:t>• Reduced features: Remaining features show clear importance</a:t>
            </a:r>
          </a:p>
          <a:p>
            <a:pPr marL="0" indent="0">
              <a:buNone/>
            </a:pPr>
            <a:r>
              <a:rPr dirty="0"/>
              <a:t>• PCA: Components show distributed importance across original features</a:t>
            </a:r>
          </a:p>
        </p:txBody>
      </p:sp>
      <p:pic>
        <p:nvPicPr>
          <p:cNvPr id="4" name="Picture 3" descr="fi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2" y="4824549"/>
            <a:ext cx="3657600" cy="2286000"/>
          </a:xfrm>
          <a:prstGeom prst="rect">
            <a:avLst/>
          </a:prstGeom>
        </p:spPr>
      </p:pic>
      <p:pic>
        <p:nvPicPr>
          <p:cNvPr id="5" name="Picture 4" descr="fi_redu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366" y="4824549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Future Work:</a:t>
            </a:r>
          </a:p>
          <a:p>
            <a:pPr marL="0" indent="0">
              <a:buNone/>
            </a:pPr>
            <a:r>
              <a:rPr dirty="0"/>
              <a:t>• Explore ensemble methods (Random Forest, Gradient Boosting)</a:t>
            </a:r>
          </a:p>
          <a:p>
            <a:pPr marL="0" indent="0">
              <a:buNone/>
            </a:pPr>
            <a:r>
              <a:rPr dirty="0"/>
              <a:t>• Implement cross-validation for more robust evaluation</a:t>
            </a:r>
          </a:p>
          <a:p>
            <a:pPr marL="0" indent="0">
              <a:buNone/>
            </a:pPr>
            <a:r>
              <a:rPr dirty="0"/>
              <a:t>• Consider deep learning approaches for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411</Words>
  <Application>Microsoft Office PowerPoint</Application>
  <PresentationFormat>Custom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Breast Cancer Detection Using Decision Trees</vt:lpstr>
      <vt:lpstr>Project Overview</vt:lpstr>
      <vt:lpstr>Dataset Information</vt:lpstr>
      <vt:lpstr>Methodology</vt:lpstr>
      <vt:lpstr>Feature Correlation Analysis</vt:lpstr>
      <vt:lpstr>Feature Reduction Results</vt:lpstr>
      <vt:lpstr>Principal Component Analysis (PCA)</vt:lpstr>
      <vt:lpstr>Model Training</vt:lpstr>
      <vt:lpstr>Performance Comparison</vt:lpstr>
      <vt:lpstr>Detailed Results &amp; Visualizations</vt:lpstr>
      <vt:lpstr>Feature Importance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Nouman Zahid</cp:lastModifiedBy>
  <cp:revision>5</cp:revision>
  <dcterms:created xsi:type="dcterms:W3CDTF">2013-01-27T09:14:16Z</dcterms:created>
  <dcterms:modified xsi:type="dcterms:W3CDTF">2025-09-28T18:48:58Z</dcterms:modified>
  <cp:category/>
</cp:coreProperties>
</file>