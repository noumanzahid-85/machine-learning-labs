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8034" y="2130425"/>
            <a:ext cx="7811588" cy="1470025"/>
          </a:xfrm>
        </p:spPr>
        <p:txBody>
          <a:bodyPr/>
          <a:lstStyle/>
          <a:p>
            <a:r>
              <a:rPr dirty="0"/>
              <a:t>K-Means Clustering Analysis of Facebook Live Video Engagement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6640" y="3886200"/>
            <a:ext cx="6209211" cy="1752600"/>
          </a:xfrm>
        </p:spPr>
        <p:txBody>
          <a:bodyPr>
            <a:normAutofit/>
          </a:bodyPr>
          <a:lstStyle/>
          <a:p>
            <a:r>
              <a:rPr dirty="0"/>
              <a:t>A Machine Learning Approach to Understanding Social Media Engagement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442909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Prepared by:</a:t>
            </a:r>
            <a:r>
              <a:rPr lang="en-US" dirty="0"/>
              <a:t> Abdul Haseeb &amp; Nouman Zahid </a:t>
            </a:r>
          </a:p>
          <a:p>
            <a:r>
              <a:rPr dirty="0"/>
              <a:t>Date: September 28,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Problem Statement:</a:t>
            </a:r>
          </a:p>
          <a:p>
            <a:r>
              <a:rPr dirty="0"/>
              <a:t> Social media platforms generate massive engagement data daily</a:t>
            </a:r>
          </a:p>
          <a:p>
            <a:r>
              <a:rPr dirty="0"/>
              <a:t>Understanding user engagement patterns is crucial for content creators</a:t>
            </a:r>
          </a:p>
          <a:p>
            <a:r>
              <a:rPr dirty="0"/>
              <a:t>Need to identify natural groupings in Facebook Live video metrics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Objectives:</a:t>
            </a:r>
            <a:endParaRPr lang="en-US" b="1" dirty="0"/>
          </a:p>
          <a:p>
            <a:r>
              <a:rPr dirty="0"/>
              <a:t> Apply K-means clustering to identify engagement patterns</a:t>
            </a:r>
          </a:p>
          <a:p>
            <a:r>
              <a:rPr dirty="0"/>
              <a:t> Determine optimal number of clusters using quantitative methods</a:t>
            </a:r>
          </a:p>
          <a:p>
            <a:r>
              <a:rPr dirty="0"/>
              <a:t> Analyze cluster characteristics for content strategy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sz="4800" b="1" dirty="0"/>
              <a:t>Data Source: </a:t>
            </a:r>
            <a:endParaRPr lang="en-US" sz="4800" b="1" dirty="0"/>
          </a:p>
          <a:p>
            <a:r>
              <a:rPr sz="4000" dirty="0"/>
              <a:t>Facebook Live video engagement metrics</a:t>
            </a:r>
            <a:endParaRPr lang="en-US" sz="4000" dirty="0"/>
          </a:p>
          <a:p>
            <a:r>
              <a:rPr sz="4000" dirty="0"/>
              <a:t>7,052 records from various Facebook pages</a:t>
            </a:r>
            <a:endParaRPr lang="en-US" sz="4000" dirty="0"/>
          </a:p>
          <a:p>
            <a:r>
              <a:rPr sz="4000" dirty="0"/>
              <a:t>Engagement metrics: reactions, comments, </a:t>
            </a:r>
            <a:endParaRPr lang="en-US" sz="4000" dirty="0"/>
          </a:p>
          <a:p>
            <a:r>
              <a:rPr sz="4000" dirty="0"/>
              <a:t>shares, likes</a:t>
            </a:r>
          </a:p>
          <a:p>
            <a:endParaRPr dirty="0"/>
          </a:p>
          <a:p>
            <a:pPr marL="0" indent="0">
              <a:buNone/>
            </a:pPr>
            <a:r>
              <a:rPr sz="4800" b="1" dirty="0"/>
              <a:t>Data Structure</a:t>
            </a:r>
            <a:r>
              <a:rPr sz="4800" dirty="0"/>
              <a:t>:</a:t>
            </a:r>
          </a:p>
          <a:p>
            <a:r>
              <a:rPr sz="4000" b="1" dirty="0" err="1"/>
              <a:t>status_id</a:t>
            </a:r>
            <a:r>
              <a:rPr sz="4000" dirty="0"/>
              <a:t>: Unique video identifier</a:t>
            </a:r>
          </a:p>
          <a:p>
            <a:r>
              <a:rPr sz="4000" b="1" dirty="0" err="1"/>
              <a:t>status_type</a:t>
            </a:r>
            <a:r>
              <a:rPr sz="4000" dirty="0"/>
              <a:t>: Content type (video/photo)</a:t>
            </a:r>
          </a:p>
          <a:p>
            <a:r>
              <a:rPr sz="4000" b="1" dirty="0" err="1"/>
              <a:t>num_reactions</a:t>
            </a:r>
            <a:r>
              <a:rPr sz="4000" dirty="0"/>
              <a:t>: Total reaction count</a:t>
            </a:r>
          </a:p>
          <a:p>
            <a:r>
              <a:rPr sz="4000" b="1" dirty="0" err="1"/>
              <a:t>num_comments</a:t>
            </a:r>
            <a:r>
              <a:rPr sz="4000" dirty="0"/>
              <a:t>: Total comment count</a:t>
            </a:r>
          </a:p>
          <a:p>
            <a:r>
              <a:rPr sz="4000" b="1" dirty="0" err="1"/>
              <a:t>num_shares</a:t>
            </a:r>
            <a:r>
              <a:rPr sz="4000" dirty="0"/>
              <a:t>: Total share count</a:t>
            </a:r>
          </a:p>
          <a:p>
            <a:r>
              <a:rPr sz="4000" b="1" dirty="0" err="1"/>
              <a:t>num_likes</a:t>
            </a:r>
            <a:r>
              <a:rPr sz="4000" dirty="0"/>
              <a:t>: Like reaction count</a:t>
            </a:r>
          </a:p>
          <a:p>
            <a:endParaRPr dirty="0"/>
          </a:p>
          <a:p>
            <a:pPr marL="0" indent="0">
              <a:buNone/>
            </a:pPr>
            <a:r>
              <a:rPr sz="4800" b="1" dirty="0"/>
              <a:t>Preprocessing:</a:t>
            </a:r>
          </a:p>
          <a:p>
            <a:r>
              <a:rPr sz="4000" dirty="0"/>
              <a:t>Removed missing values</a:t>
            </a:r>
          </a:p>
          <a:p>
            <a:r>
              <a:rPr sz="4000" dirty="0"/>
              <a:t>Selected 4 key engagement features</a:t>
            </a:r>
          </a:p>
          <a:p>
            <a:r>
              <a:rPr sz="4000" dirty="0"/>
              <a:t>Applied feature standardization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7678389"/>
              </p:ext>
            </p:extLst>
          </p:nvPr>
        </p:nvGraphicFramePr>
        <p:xfrm>
          <a:off x="4758811" y="2765901"/>
          <a:ext cx="72660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3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3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045">
                <a:tc>
                  <a:txBody>
                    <a:bodyPr/>
                    <a:lstStyle/>
                    <a:p>
                      <a:r>
                        <a:rPr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045">
                <a:tc>
                  <a:txBody>
                    <a:bodyPr/>
                    <a:lstStyle/>
                    <a:p>
                      <a:r>
                        <a:rPr dirty="0" err="1"/>
                        <a:t>num_reactions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Total reactions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045">
                <a:tc>
                  <a:txBody>
                    <a:bodyPr/>
                    <a:lstStyle/>
                    <a:p>
                      <a:r>
                        <a:t>num_comments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Total 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045">
                <a:tc>
                  <a:txBody>
                    <a:bodyPr/>
                    <a:lstStyle/>
                    <a:p>
                      <a:r>
                        <a:t>num_shares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shares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045">
                <a:tc>
                  <a:txBody>
                    <a:bodyPr/>
                    <a:lstStyle/>
                    <a:p>
                      <a:r>
                        <a:t>num_likes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Total likes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045">
                <a:tc>
                  <a:txBody>
                    <a:bodyPr/>
                    <a:lstStyle/>
                    <a:p>
                      <a:r>
                        <a:t>status_type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Content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K-Means Clustering Algorithm:</a:t>
            </a:r>
            <a:endParaRPr b="1" dirty="0"/>
          </a:p>
          <a:p>
            <a:r>
              <a:rPr dirty="0"/>
              <a:t>Unsupervised machine learning algorithm</a:t>
            </a:r>
          </a:p>
          <a:p>
            <a:r>
              <a:rPr dirty="0"/>
              <a:t>Partitions observations into k clusters</a:t>
            </a:r>
          </a:p>
          <a:p>
            <a:r>
              <a:rPr dirty="0"/>
              <a:t>Minimizes within-cluster sum of squares</a:t>
            </a:r>
          </a:p>
          <a:p>
            <a:r>
              <a:rPr dirty="0"/>
              <a:t>Iterative process: assign → update centers → repeat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Feature Selection:</a:t>
            </a:r>
          </a:p>
          <a:p>
            <a:r>
              <a:rPr dirty="0"/>
              <a:t>Selected 4 engagement metrics</a:t>
            </a:r>
          </a:p>
          <a:p>
            <a:r>
              <a:rPr dirty="0"/>
              <a:t>Standardized using </a:t>
            </a:r>
            <a:r>
              <a:rPr dirty="0" err="1"/>
              <a:t>StandardScaler</a:t>
            </a:r>
            <a:endParaRPr dirty="0"/>
          </a:p>
          <a:p>
            <a:r>
              <a:rPr dirty="0"/>
              <a:t>Ensures equal contribution to distance calculations</a:t>
            </a:r>
          </a:p>
          <a:p>
            <a:endParaRPr b="1" dirty="0"/>
          </a:p>
          <a:p>
            <a:pPr marL="0" indent="0">
              <a:buNone/>
            </a:pPr>
            <a:r>
              <a:rPr b="1" dirty="0"/>
              <a:t>Elbow Method:</a:t>
            </a:r>
          </a:p>
          <a:p>
            <a:r>
              <a:rPr dirty="0"/>
              <a:t>Determines optimal number of clusters</a:t>
            </a:r>
          </a:p>
          <a:p>
            <a:r>
              <a:rPr dirty="0"/>
              <a:t>Plots inertia vs. number of clusters (k</a:t>
            </a:r>
            <a:r>
              <a:rPr lang="en-US" dirty="0"/>
              <a:t>)</a:t>
            </a:r>
          </a:p>
          <a:p>
            <a:r>
              <a:rPr lang="en-US" dirty="0"/>
              <a:t>Identifies "elbow" point where improvement diminishes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Elbow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800" dirty="0"/>
              <a:t>Elbow Method Analysis:</a:t>
            </a:r>
          </a:p>
          <a:p>
            <a:r>
              <a:rPr sz="1800" dirty="0"/>
              <a:t>Tested k values from 1 to 10</a:t>
            </a:r>
          </a:p>
          <a:p>
            <a:r>
              <a:rPr sz="1800" dirty="0"/>
              <a:t>Optimal k = 4 identified</a:t>
            </a:r>
          </a:p>
          <a:p>
            <a:r>
              <a:rPr sz="1800" dirty="0"/>
              <a:t>Clear elbow at k=4</a:t>
            </a:r>
          </a:p>
          <a:p>
            <a:r>
              <a:rPr sz="1800" dirty="0"/>
              <a:t>Beyond k=4, improvement diminishes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sz="1800" dirty="0"/>
              <a:t>Cluster Distribution:</a:t>
            </a:r>
          </a:p>
          <a:p>
            <a:r>
              <a:rPr sz="1800" dirty="0"/>
              <a:t>Cluster 0: 6,130 samples (87.0%)</a:t>
            </a:r>
          </a:p>
          <a:p>
            <a:r>
              <a:rPr sz="1800" dirty="0"/>
              <a:t>Cluster 1: 395 samples (5.6%)</a:t>
            </a:r>
          </a:p>
          <a:p>
            <a:r>
              <a:rPr sz="1800" dirty="0"/>
              <a:t>Cluster 2: 71 samples (1.0%)</a:t>
            </a:r>
          </a:p>
          <a:p>
            <a:r>
              <a:rPr sz="1800" dirty="0"/>
              <a:t>Cluster 3: 454 samples (6.4%)</a:t>
            </a:r>
          </a:p>
        </p:txBody>
      </p:sp>
      <p:pic>
        <p:nvPicPr>
          <p:cNvPr id="4" name="Picture 3" descr="elbow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896932"/>
            <a:ext cx="7315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Cluster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1800" dirty="0"/>
              <a:t>Cluster Characteristics:</a:t>
            </a:r>
          </a:p>
          <a:p>
            <a:endParaRPr sz="1800" dirty="0"/>
          </a:p>
          <a:p>
            <a:r>
              <a:rPr sz="1800" dirty="0"/>
              <a:t>Cluster 0 (Low Engagement):</a:t>
            </a:r>
          </a:p>
          <a:p>
            <a:r>
              <a:rPr sz="1800" dirty="0"/>
              <a:t>• Average reactions: 106</a:t>
            </a:r>
          </a:p>
          <a:p>
            <a:r>
              <a:rPr sz="1800" dirty="0"/>
              <a:t>• Average comments: 54</a:t>
            </a:r>
          </a:p>
          <a:p>
            <a:r>
              <a:rPr sz="1800" dirty="0"/>
              <a:t>• Average shares: 11</a:t>
            </a:r>
          </a:p>
          <a:p>
            <a:r>
              <a:rPr sz="1800" dirty="0"/>
              <a:t>• Average likes: 100</a:t>
            </a:r>
          </a:p>
          <a:p>
            <a:endParaRPr sz="1800" dirty="0"/>
          </a:p>
          <a:p>
            <a:r>
              <a:rPr sz="1800" dirty="0"/>
              <a:t>Cluster 1 (High Likes):</a:t>
            </a:r>
          </a:p>
          <a:p>
            <a:r>
              <a:rPr sz="1800" dirty="0"/>
              <a:t>• Average reactions: 1,784</a:t>
            </a:r>
          </a:p>
          <a:p>
            <a:r>
              <a:rPr sz="1800" dirty="0"/>
              <a:t>• Average comments: 75</a:t>
            </a:r>
          </a:p>
          <a:p>
            <a:r>
              <a:rPr sz="1800" dirty="0"/>
              <a:t>• Average shares: 16</a:t>
            </a:r>
          </a:p>
          <a:p>
            <a:r>
              <a:rPr sz="1800" dirty="0"/>
              <a:t>• Average likes: 1,774</a:t>
            </a:r>
          </a:p>
          <a:p>
            <a:endParaRPr sz="1800" dirty="0"/>
          </a:p>
          <a:p>
            <a:r>
              <a:rPr sz="1800" dirty="0"/>
              <a:t>Cluster 2 (High Comments &amp; Shares):</a:t>
            </a:r>
          </a:p>
          <a:p>
            <a:r>
              <a:rPr sz="1800" dirty="0"/>
              <a:t>• Average reactions: 789</a:t>
            </a:r>
          </a:p>
          <a:p>
            <a:r>
              <a:rPr sz="1800" dirty="0"/>
              <a:t>• Average comments: 6,565</a:t>
            </a:r>
          </a:p>
          <a:p>
            <a:r>
              <a:rPr sz="1800" dirty="0"/>
              <a:t>• Average shares: 754</a:t>
            </a:r>
          </a:p>
          <a:p>
            <a:r>
              <a:rPr sz="1800" dirty="0"/>
              <a:t>• Average likes: 596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085423"/>
              </p:ext>
            </p:extLst>
          </p:nvPr>
        </p:nvGraphicFramePr>
        <p:xfrm>
          <a:off x="3936275" y="22860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dirty="0"/>
                        <a:t>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Comments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Likes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Cluster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Cluster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Cluster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Cluster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Results -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sz="1600" b="1" dirty="0"/>
              <a:t>Reactions vs Comments:</a:t>
            </a:r>
          </a:p>
          <a:p>
            <a:r>
              <a:rPr sz="1600" dirty="0"/>
              <a:t>Clear separation between clusters</a:t>
            </a:r>
          </a:p>
          <a:p>
            <a:r>
              <a:rPr sz="1600" dirty="0"/>
              <a:t>High-engagement cluster shows distinct pattern</a:t>
            </a:r>
          </a:p>
          <a:p>
            <a:r>
              <a:rPr sz="1600" dirty="0"/>
              <a:t>Low-engagement cluster forms main group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sz="1600" b="1" dirty="0"/>
              <a:t>Likes vs Shares:</a:t>
            </a:r>
          </a:p>
          <a:p>
            <a:r>
              <a:rPr sz="1600" dirty="0"/>
              <a:t>Similar clustering patterns observed</a:t>
            </a:r>
          </a:p>
          <a:p>
            <a:r>
              <a:rPr sz="1600" dirty="0"/>
              <a:t>Different engagement types visible</a:t>
            </a:r>
          </a:p>
          <a:p>
            <a:r>
              <a:rPr sz="1600" dirty="0"/>
              <a:t>Cluster 2 shows high comments/shares correlation</a:t>
            </a:r>
          </a:p>
          <a:p>
            <a:endParaRPr sz="1600" dirty="0"/>
          </a:p>
        </p:txBody>
      </p:sp>
      <p:pic>
        <p:nvPicPr>
          <p:cNvPr id="4" name="Picture 3" descr="reactions_comment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225" y="3886200"/>
            <a:ext cx="5486400" cy="2743200"/>
          </a:xfrm>
          <a:prstGeom prst="rect">
            <a:avLst/>
          </a:prstGeom>
        </p:spPr>
      </p:pic>
      <p:pic>
        <p:nvPicPr>
          <p:cNvPr id="5" name="Picture 4" descr="likes_shares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225" y="1119981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5768D-1368-4734-A928-FE54A068A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- continued</a:t>
            </a:r>
          </a:p>
        </p:txBody>
      </p:sp>
      <p:pic>
        <p:nvPicPr>
          <p:cNvPr id="4" name="Content Placeholder 3" descr="heatmap.png">
            <a:extLst>
              <a:ext uri="{FF2B5EF4-FFF2-40B4-BE49-F238E27FC236}">
                <a16:creationId xmlns:a16="http://schemas.microsoft.com/office/drawing/2014/main" id="{6540CB77-C151-4202-98C9-3B2714F6E6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3213" y="1511710"/>
            <a:ext cx="6600362" cy="45259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C4368B-8F8B-44D4-9057-B76A260D4407}"/>
              </a:ext>
            </a:extLst>
          </p:cNvPr>
          <p:cNvSpPr txBox="1"/>
          <p:nvPr/>
        </p:nvSpPr>
        <p:spPr>
          <a:xfrm>
            <a:off x="295250" y="223112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Heatmap Insights:</a:t>
            </a:r>
          </a:p>
          <a:p>
            <a:r>
              <a:rPr lang="en-US" sz="1800" dirty="0"/>
              <a:t>• Visual representation of cluster centers</a:t>
            </a:r>
          </a:p>
          <a:p>
            <a:r>
              <a:rPr lang="en-US" sz="1800" dirty="0"/>
              <a:t>• Easy interpretation of engagement patterns</a:t>
            </a:r>
          </a:p>
          <a:p>
            <a:r>
              <a:rPr lang="en-US" sz="1800" dirty="0"/>
              <a:t>• Color-coded intensity shows relative values</a:t>
            </a:r>
          </a:p>
        </p:txBody>
      </p:sp>
    </p:spTree>
    <p:extLst>
      <p:ext uri="{BB962C8B-B14F-4D97-AF65-F5344CB8AC3E}">
        <p14:creationId xmlns:p14="http://schemas.microsoft.com/office/powerpoint/2010/main" val="3495095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600" b="1" dirty="0"/>
              <a:t>Key Findings:</a:t>
            </a:r>
          </a:p>
          <a:p>
            <a:r>
              <a:rPr sz="1600" dirty="0"/>
              <a:t>Successfully identified 4 distinct engagement patterns</a:t>
            </a:r>
          </a:p>
          <a:p>
            <a:r>
              <a:rPr sz="1600" dirty="0"/>
              <a:t>Cluster 0: Low engagement (87% of data)</a:t>
            </a:r>
          </a:p>
          <a:p>
            <a:r>
              <a:rPr sz="1600" dirty="0"/>
              <a:t>Cluster 1: High likes-focused engagement</a:t>
            </a:r>
          </a:p>
          <a:p>
            <a:r>
              <a:rPr sz="1600" dirty="0"/>
              <a:t>Cluster 2: High comments and shares</a:t>
            </a:r>
          </a:p>
          <a:p>
            <a:r>
              <a:rPr sz="1600" dirty="0"/>
              <a:t>Cluster 3: Very high overall engagement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Business Insights:</a:t>
            </a:r>
          </a:p>
          <a:p>
            <a:r>
              <a:rPr sz="1600" dirty="0"/>
              <a:t>Content creators can target specific engagement types</a:t>
            </a:r>
          </a:p>
          <a:p>
            <a:r>
              <a:rPr sz="1600" dirty="0"/>
              <a:t>Different strategies needed for different audience segments</a:t>
            </a:r>
          </a:p>
          <a:p>
            <a:r>
              <a:rPr sz="1600" dirty="0"/>
              <a:t>High-engagement content identified for optimization</a:t>
            </a:r>
          </a:p>
          <a:p>
            <a:endParaRPr sz="1600" dirty="0"/>
          </a:p>
          <a:p>
            <a:pPr marL="0" indent="0">
              <a:buNone/>
            </a:pPr>
            <a:r>
              <a:rPr sz="1600" b="1" dirty="0"/>
              <a:t>Future Work:</a:t>
            </a:r>
          </a:p>
          <a:p>
            <a:r>
              <a:rPr sz="1600" dirty="0"/>
              <a:t>Incorporate temporal features (time, duration)</a:t>
            </a:r>
          </a:p>
          <a:p>
            <a:r>
              <a:rPr sz="1600" dirty="0"/>
              <a:t>Text analysis of video descriptio</a:t>
            </a:r>
            <a:r>
              <a:rPr lang="en-US" sz="1600" dirty="0"/>
              <a:t>n</a:t>
            </a:r>
            <a:endParaRPr sz="1600" dirty="0"/>
          </a:p>
          <a:p>
            <a:r>
              <a:rPr sz="1600" dirty="0"/>
              <a:t>Real-time clustering for live recommendations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[1] MacQueen, J. (1967). Some methods for classification and analysis of multivariate observations.</a:t>
            </a:r>
          </a:p>
          <a:p>
            <a:r>
              <a:rPr sz="1600" dirty="0"/>
              <a:t>    Proceedings of the fifth Berkeley symposium on mathematical statistics and probability.</a:t>
            </a:r>
          </a:p>
          <a:p>
            <a:endParaRPr sz="1600" dirty="0"/>
          </a:p>
          <a:p>
            <a:r>
              <a:rPr sz="1600" dirty="0"/>
              <a:t>[2] </a:t>
            </a:r>
            <a:r>
              <a:rPr sz="1600" dirty="0" err="1"/>
              <a:t>Syakur</a:t>
            </a:r>
            <a:r>
              <a:rPr sz="1600" dirty="0"/>
              <a:t>, M. A., et al. (2018). Integration k-means clustering method and elbow method for</a:t>
            </a:r>
          </a:p>
          <a:p>
            <a:r>
              <a:rPr sz="1600" dirty="0"/>
              <a:t>    identification of the best customer profile cluster.</a:t>
            </a:r>
          </a:p>
          <a:p>
            <a:r>
              <a:rPr sz="1600" dirty="0"/>
              <a:t>    IOP Conference Series: Materials Science and Engineering.</a:t>
            </a:r>
          </a:p>
          <a:p>
            <a:endParaRPr sz="1600" dirty="0"/>
          </a:p>
          <a:p>
            <a:r>
              <a:rPr sz="1600" dirty="0"/>
              <a:t>[3] Prashant111. (2021). K-Means Clustering with Python. Kaggle.</a:t>
            </a:r>
          </a:p>
          <a:p>
            <a:r>
              <a:rPr sz="1600" dirty="0"/>
              <a:t>    https://www.kaggle.com/code/prashant111/k-means-clustering-with-python/notebook</a:t>
            </a:r>
          </a:p>
          <a:p>
            <a:endParaRPr sz="1600" dirty="0"/>
          </a:p>
          <a:p>
            <a:r>
              <a:rPr sz="1600" dirty="0"/>
              <a:t>[4] Facebook Live Video Dataset. Retrieved from various sources.</a:t>
            </a:r>
          </a:p>
          <a:p>
            <a:r>
              <a:rPr sz="1600" dirty="0"/>
              <a:t>    Contains engagement metrics for social media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600" dirty="0"/>
              <a:t>Questions?</a:t>
            </a:r>
          </a:p>
          <a:p>
            <a:endParaRPr sz="1600" dirty="0"/>
          </a:p>
          <a:p>
            <a:r>
              <a:rPr sz="1600" dirty="0"/>
              <a:t>Contact Information:</a:t>
            </a:r>
          </a:p>
          <a:p>
            <a:r>
              <a:rPr sz="1600" dirty="0"/>
              <a:t>Data Science Student</a:t>
            </a:r>
          </a:p>
          <a:p>
            <a:endParaRPr sz="1600" dirty="0"/>
          </a:p>
          <a:p>
            <a:r>
              <a:rPr sz="1600" dirty="0"/>
              <a:t>This presentation demonstrates the application of K-means clustering</a:t>
            </a:r>
          </a:p>
          <a:p>
            <a:r>
              <a:rPr sz="1600" dirty="0"/>
              <a:t>for analyzing Facebook Live video engagement patterns.</a:t>
            </a:r>
          </a:p>
          <a:p>
            <a:endParaRPr sz="1600" dirty="0"/>
          </a:p>
          <a:p>
            <a:r>
              <a:rPr sz="1600" dirty="0"/>
              <a:t>Key takeaway: Data-driven insights can optimize content strategy</a:t>
            </a:r>
          </a:p>
          <a:p>
            <a:r>
              <a:rPr sz="1600" dirty="0"/>
              <a:t>and improve audience engagement.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766</Words>
  <Application>Microsoft Office PowerPoint</Application>
  <PresentationFormat>Custom</PresentationFormat>
  <Paragraphs>160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K-Means Clustering Analysis of Facebook Live Video Engagement</vt:lpstr>
      <vt:lpstr>Introduction</vt:lpstr>
      <vt:lpstr>Dataset Description</vt:lpstr>
      <vt:lpstr>Methodology</vt:lpstr>
      <vt:lpstr>Results - Elbow Method</vt:lpstr>
      <vt:lpstr>Results - Cluster Analysis</vt:lpstr>
      <vt:lpstr>Results - Visualizations</vt:lpstr>
      <vt:lpstr>Results - continued</vt:lpstr>
      <vt:lpstr>Conclusion and Future Work</vt:lpstr>
      <vt:lpstr>References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K-Means Clustering Analysis of Facebook Live Video Engagement</dc:title>
  <dc:subject/>
  <dc:creator/>
  <cp:keywords/>
  <dc:description>generated using python-pptx</dc:description>
  <cp:lastModifiedBy>Nouman Zahid</cp:lastModifiedBy>
  <cp:revision>6</cp:revision>
  <dcterms:created xsi:type="dcterms:W3CDTF">2013-01-27T09:14:16Z</dcterms:created>
  <dcterms:modified xsi:type="dcterms:W3CDTF">2025-09-28T18:02:23Z</dcterms:modified>
  <cp:category/>
</cp:coreProperties>
</file>