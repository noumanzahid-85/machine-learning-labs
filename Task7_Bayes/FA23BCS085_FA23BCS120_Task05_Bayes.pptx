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1"/>
            <a:ext cx="7772400" cy="1924593"/>
          </a:xfrm>
        </p:spPr>
        <p:txBody>
          <a:bodyPr/>
          <a:lstStyle/>
          <a:p>
            <a:r>
              <a:rPr dirty="0"/>
              <a:t>Naive Bayes Classifier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168435"/>
            <a:ext cx="6400800" cy="3152502"/>
          </a:xfrm>
        </p:spPr>
        <p:txBody>
          <a:bodyPr>
            <a:normAutofit/>
          </a:bodyPr>
          <a:lstStyle/>
          <a:p>
            <a:r>
              <a:rPr dirty="0"/>
              <a:t>Implementation, Evaluation, and Comparative Analysis</a:t>
            </a:r>
            <a:endParaRPr lang="en-US" dirty="0"/>
          </a:p>
          <a:p>
            <a:r>
              <a:rPr lang="en-US" dirty="0"/>
              <a:t>Done By:</a:t>
            </a:r>
          </a:p>
          <a:p>
            <a:r>
              <a:rPr lang="en-US" dirty="0"/>
              <a:t>Nouman Zahid</a:t>
            </a:r>
          </a:p>
          <a:p>
            <a:r>
              <a:rPr lang="en-US" dirty="0"/>
              <a:t>Abdul Haseeb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b="1" dirty="0"/>
              <a:t>Problem</a:t>
            </a:r>
            <a:r>
              <a:rPr dirty="0"/>
              <a:t>:</a:t>
            </a:r>
          </a:p>
          <a:p>
            <a:r>
              <a:rPr dirty="0"/>
              <a:t>Train a Naive Bayes (NB) classifier to predict class labels.</a:t>
            </a:r>
          </a:p>
          <a:p>
            <a:endParaRPr dirty="0"/>
          </a:p>
          <a:p>
            <a:r>
              <a:rPr b="1" dirty="0"/>
              <a:t>Objectives</a:t>
            </a:r>
            <a:r>
              <a:rPr dirty="0"/>
              <a:t>:</a:t>
            </a:r>
          </a:p>
          <a:p>
            <a:r>
              <a:rPr dirty="0"/>
              <a:t>• Implement and compare NB variants: Gaussian, Multinomial, Bernoulli.</a:t>
            </a:r>
          </a:p>
          <a:p>
            <a:r>
              <a:rPr dirty="0"/>
              <a:t>• Design preprocessing pipeline for continuous/discrete/binary data.</a:t>
            </a:r>
          </a:p>
          <a:p>
            <a:r>
              <a:rPr dirty="0"/>
              <a:t>• Evaluate models with standard metrics.</a:t>
            </a:r>
          </a:p>
          <a:p>
            <a:endParaRPr dirty="0"/>
          </a:p>
          <a:p>
            <a:r>
              <a:rPr b="1" dirty="0"/>
              <a:t>Contributions</a:t>
            </a:r>
            <a:r>
              <a:rPr dirty="0"/>
              <a:t>:</a:t>
            </a:r>
          </a:p>
          <a:p>
            <a:r>
              <a:rPr dirty="0"/>
              <a:t>• Reproducible NB pipeline.</a:t>
            </a:r>
          </a:p>
          <a:p>
            <a:r>
              <a:rPr dirty="0"/>
              <a:t>• Comparative study of NB variants and smoothing.</a:t>
            </a:r>
          </a:p>
          <a:p>
            <a:r>
              <a:rPr dirty="0"/>
              <a:t>• Analysis using confusion matrix and ROC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/>
              <a:t>Bayes’ Theorem:</a:t>
            </a:r>
          </a:p>
          <a:p>
            <a:r>
              <a:rPr dirty="0"/>
              <a:t>P(</a:t>
            </a:r>
            <a:r>
              <a:rPr dirty="0" err="1"/>
              <a:t>C|x</a:t>
            </a:r>
            <a:r>
              <a:rPr dirty="0"/>
              <a:t>) = (P(</a:t>
            </a:r>
            <a:r>
              <a:rPr dirty="0" err="1"/>
              <a:t>x|C</a:t>
            </a:r>
            <a:r>
              <a:rPr dirty="0"/>
              <a:t>)P(C)) / P(x)</a:t>
            </a:r>
          </a:p>
          <a:p>
            <a:endParaRPr dirty="0"/>
          </a:p>
          <a:p>
            <a:r>
              <a:rPr b="1" dirty="0"/>
              <a:t>Decision Rule (MAP): </a:t>
            </a:r>
            <a:endParaRPr lang="en-US" b="1" dirty="0"/>
          </a:p>
          <a:p>
            <a:r>
              <a:rPr dirty="0"/>
              <a:t>Choose class with highest posterior.</a:t>
            </a:r>
          </a:p>
          <a:p>
            <a:endParaRPr dirty="0"/>
          </a:p>
          <a:p>
            <a:r>
              <a:rPr b="1" dirty="0"/>
              <a:t>Naive Independence Assumption:</a:t>
            </a:r>
          </a:p>
          <a:p>
            <a:r>
              <a:rPr dirty="0"/>
              <a:t>Features are conditionally independent given the class.</a:t>
            </a:r>
          </a:p>
          <a:p>
            <a:endParaRPr dirty="0"/>
          </a:p>
          <a:p>
            <a:r>
              <a:rPr b="1" dirty="0"/>
              <a:t>Variants:</a:t>
            </a:r>
          </a:p>
          <a:p>
            <a:r>
              <a:rPr dirty="0"/>
              <a:t>• </a:t>
            </a:r>
            <a:r>
              <a:rPr dirty="0" err="1"/>
              <a:t>GaussianNB</a:t>
            </a:r>
            <a:r>
              <a:rPr dirty="0"/>
              <a:t>: continuous data</a:t>
            </a:r>
          </a:p>
          <a:p>
            <a:r>
              <a:rPr dirty="0"/>
              <a:t>• </a:t>
            </a:r>
            <a:r>
              <a:rPr dirty="0" err="1"/>
              <a:t>MultinomialNB</a:t>
            </a:r>
            <a:r>
              <a:rPr dirty="0"/>
              <a:t>: counts/frequencies</a:t>
            </a:r>
          </a:p>
          <a:p>
            <a:r>
              <a:rPr dirty="0"/>
              <a:t>• </a:t>
            </a:r>
            <a:r>
              <a:rPr dirty="0" err="1"/>
              <a:t>BernoulliNB</a:t>
            </a:r>
            <a:r>
              <a:rPr dirty="0"/>
              <a:t>: binary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Dataset</a:t>
            </a:r>
            <a:r>
              <a:rPr dirty="0"/>
              <a:t>:</a:t>
            </a:r>
          </a:p>
          <a:p>
            <a:r>
              <a:rPr dirty="0"/>
              <a:t>Description of dataset</a:t>
            </a:r>
          </a:p>
          <a:p>
            <a:endParaRPr dirty="0"/>
          </a:p>
          <a:p>
            <a:r>
              <a:rPr b="1" dirty="0"/>
              <a:t>Preprocessing Steps:</a:t>
            </a:r>
          </a:p>
          <a:p>
            <a:r>
              <a:rPr dirty="0"/>
              <a:t>Handle missing values (impute/drop)</a:t>
            </a:r>
          </a:p>
          <a:p>
            <a:r>
              <a:rPr dirty="0"/>
              <a:t>Encode categorical features</a:t>
            </a:r>
          </a:p>
          <a:p>
            <a:r>
              <a:rPr dirty="0"/>
              <a:t>For text: tokenization + vectorization (Count/TF-IDF)</a:t>
            </a:r>
          </a:p>
          <a:p>
            <a:r>
              <a:rPr dirty="0"/>
              <a:t>Analyze correlations to choose suitable features</a:t>
            </a:r>
          </a:p>
        </p:txBody>
      </p:sp>
      <p:pic>
        <p:nvPicPr>
          <p:cNvPr id="9" name="Picture 8" descr="A red and black squares&#10;&#10;AI-generated content may be incorrect.">
            <a:extLst>
              <a:ext uri="{FF2B5EF4-FFF2-40B4-BE49-F238E27FC236}">
                <a16:creationId xmlns:a16="http://schemas.microsoft.com/office/drawing/2014/main" id="{795A048F-8F67-CF3B-1A46-C0D39ADBD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951" y="1264663"/>
            <a:ext cx="4127049" cy="2410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b="1" dirty="0"/>
              <a:t>Hyperparameters:</a:t>
            </a:r>
          </a:p>
          <a:p>
            <a:r>
              <a:rPr dirty="0" err="1"/>
              <a:t>GaussianNB</a:t>
            </a:r>
            <a:r>
              <a:rPr dirty="0"/>
              <a:t>: </a:t>
            </a:r>
            <a:r>
              <a:rPr dirty="0" err="1"/>
              <a:t>var_smoothing</a:t>
            </a:r>
            <a:r>
              <a:rPr dirty="0"/>
              <a:t> ∈ {1e-9, 1e-8, 1e-7}</a:t>
            </a:r>
          </a:p>
          <a:p>
            <a:r>
              <a:rPr dirty="0" err="1"/>
              <a:t>MultinomialNB</a:t>
            </a:r>
            <a:r>
              <a:rPr dirty="0"/>
              <a:t>: alpha ∈ {0.1, 0.5, 1.0}</a:t>
            </a:r>
          </a:p>
          <a:p>
            <a:r>
              <a:rPr dirty="0" err="1"/>
              <a:t>BernoulliNB</a:t>
            </a:r>
            <a:r>
              <a:rPr dirty="0"/>
              <a:t>: alpha ∈ {0.1, 0.5, 1.0} + binarization</a:t>
            </a:r>
          </a:p>
          <a:p>
            <a:endParaRPr dirty="0"/>
          </a:p>
          <a:p>
            <a:r>
              <a:rPr b="1" dirty="0"/>
              <a:t>Training</a:t>
            </a:r>
            <a:r>
              <a:rPr dirty="0"/>
              <a:t>:</a:t>
            </a:r>
          </a:p>
          <a:p>
            <a:r>
              <a:rPr dirty="0"/>
              <a:t>Train/validate models, final evaluation on test set.</a:t>
            </a:r>
          </a:p>
          <a:p>
            <a:endParaRPr dirty="0"/>
          </a:p>
          <a:p>
            <a:r>
              <a:rPr b="1" dirty="0"/>
              <a:t>Metrics</a:t>
            </a:r>
            <a:r>
              <a:rPr dirty="0"/>
              <a:t>:</a:t>
            </a:r>
          </a:p>
          <a:p>
            <a:r>
              <a:rPr dirty="0"/>
              <a:t>Accuracy, Precision, Recall, F1, ROC-AUC, 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Results</a:t>
            </a:r>
            <a:r>
              <a:rPr dirty="0"/>
              <a:t>:</a:t>
            </a:r>
          </a:p>
          <a:p>
            <a:r>
              <a:rPr dirty="0"/>
              <a:t>Accuracy comparison of </a:t>
            </a:r>
            <a:r>
              <a:rPr dirty="0" err="1"/>
              <a:t>GaussianNB</a:t>
            </a:r>
            <a:r>
              <a:rPr dirty="0"/>
              <a:t>, </a:t>
            </a:r>
            <a:r>
              <a:rPr dirty="0" err="1"/>
              <a:t>MultinomialNB</a:t>
            </a:r>
            <a:r>
              <a:rPr dirty="0"/>
              <a:t>, </a:t>
            </a:r>
            <a:r>
              <a:rPr dirty="0" err="1"/>
              <a:t>BernoulliNB</a:t>
            </a:r>
            <a:endParaRPr dirty="0"/>
          </a:p>
          <a:p>
            <a:r>
              <a:rPr dirty="0"/>
              <a:t>ROC Curves for model performance</a:t>
            </a:r>
          </a:p>
          <a:p>
            <a:r>
              <a:rPr dirty="0"/>
              <a:t>Confusion Matrices for detailed error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Naive Bayes is a simple yet powerful baseline.</a:t>
            </a:r>
          </a:p>
          <a:p>
            <a:r>
              <a:rPr dirty="0"/>
              <a:t>With proper preprocessing and smoothing, it provides robust results.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Use richer features</a:t>
            </a:r>
          </a:p>
          <a:p>
            <a:r>
              <a:rPr dirty="0"/>
              <a:t>Explore ensemble approaches</a:t>
            </a:r>
          </a:p>
          <a:p>
            <a:r>
              <a:rPr dirty="0"/>
              <a:t>Extend analysis on larger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338</Words>
  <Application>Microsoft Office PowerPoint</Application>
  <PresentationFormat>On-screen Show (4:3)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Naive Bayes Classifier Study</vt:lpstr>
      <vt:lpstr>1. Introduction</vt:lpstr>
      <vt:lpstr>2. Background</vt:lpstr>
      <vt:lpstr>3. Dataset &amp; Preprocessing</vt:lpstr>
      <vt:lpstr>4. Methodology</vt:lpstr>
      <vt:lpstr>5. Experimental Results</vt:lpstr>
      <vt:lpstr>6.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Nouman Zahid</dc:creator>
  <cp:keywords/>
  <dc:description>generated using python-pptx</dc:description>
  <cp:lastModifiedBy>Nouman Zahid</cp:lastModifiedBy>
  <cp:revision>3</cp:revision>
  <dcterms:created xsi:type="dcterms:W3CDTF">2013-01-27T09:14:16Z</dcterms:created>
  <dcterms:modified xsi:type="dcterms:W3CDTF">2025-10-03T18:22:39Z</dcterms:modified>
  <cp:category/>
</cp:coreProperties>
</file>