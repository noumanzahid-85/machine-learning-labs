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2847"/>
            <a:ext cx="7772400" cy="1752600"/>
          </a:xfrm>
        </p:spPr>
        <p:txBody>
          <a:bodyPr>
            <a:normAutofit fontScale="90000"/>
          </a:bodyPr>
          <a:lstStyle/>
          <a:p>
            <a:r>
              <a:rPr dirty="0"/>
              <a:t>Linear and Multiple Linear Regression: Implementation and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5447"/>
            <a:ext cx="6400800" cy="3433353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Course: Fundamentals of Machine Learning</a:t>
            </a:r>
          </a:p>
          <a:p>
            <a:r>
              <a:rPr dirty="0"/>
              <a:t>Instructor: Umar Nauman</a:t>
            </a:r>
          </a:p>
          <a:p>
            <a:endParaRPr dirty="0"/>
          </a:p>
          <a:p>
            <a:r>
              <a:rPr dirty="0"/>
              <a:t>Authors:</a:t>
            </a:r>
          </a:p>
          <a:p>
            <a:r>
              <a:rPr dirty="0"/>
              <a:t>Nouman Zahid — FA23-BCS-085</a:t>
            </a:r>
          </a:p>
          <a:p>
            <a:r>
              <a:rPr dirty="0"/>
              <a:t>Abdul Haseeb — FA23-BCS-120</a:t>
            </a:r>
          </a:p>
          <a:p>
            <a:r>
              <a:rPr dirty="0"/>
              <a:t>Date: </a:t>
            </a:r>
            <a:r>
              <a:rPr lang="en-US" dirty="0"/>
              <a:t>10/3/25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b="1" dirty="0"/>
              <a:t>Problem</a:t>
            </a:r>
          </a:p>
          <a:p>
            <a:r>
              <a:rPr dirty="0"/>
              <a:t>SLR: Model per-capita income (Canada) as a function of year</a:t>
            </a:r>
          </a:p>
          <a:p>
            <a:r>
              <a:rPr dirty="0"/>
              <a:t>MLR: Predict salary from experience, test score, interview score</a:t>
            </a:r>
          </a:p>
          <a:p>
            <a:endParaRPr dirty="0"/>
          </a:p>
          <a:p>
            <a:r>
              <a:rPr b="1" dirty="0"/>
              <a:t>Objectives</a:t>
            </a:r>
          </a:p>
          <a:p>
            <a:r>
              <a:rPr dirty="0"/>
              <a:t>Build SLR and MLR using scikit-learn </a:t>
            </a:r>
            <a:r>
              <a:rPr dirty="0" err="1"/>
              <a:t>LinearRegression</a:t>
            </a:r>
            <a:endParaRPr dirty="0"/>
          </a:p>
          <a:p>
            <a:r>
              <a:rPr dirty="0"/>
              <a:t>Preprocess and validate with appropriate metrics</a:t>
            </a:r>
          </a:p>
          <a:p>
            <a:r>
              <a:rPr dirty="0"/>
              <a:t>Report results, insights, and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b="1" dirty="0"/>
              <a:t>Datasets</a:t>
            </a:r>
          </a:p>
          <a:p>
            <a:r>
              <a:rPr dirty="0"/>
              <a:t>canada_per_capita_income.csv: Year, Per capita income ($)</a:t>
            </a:r>
          </a:p>
          <a:p>
            <a:r>
              <a:rPr dirty="0"/>
              <a:t>hiring.csv: experience, </a:t>
            </a:r>
            <a:r>
              <a:rPr dirty="0" err="1"/>
              <a:t>test_score</a:t>
            </a:r>
            <a:r>
              <a:rPr dirty="0"/>
              <a:t>(0–10), </a:t>
            </a:r>
            <a:r>
              <a:rPr dirty="0" err="1"/>
              <a:t>interview_score</a:t>
            </a:r>
            <a:r>
              <a:rPr dirty="0"/>
              <a:t>(0–10), salary($)</a:t>
            </a:r>
          </a:p>
          <a:p>
            <a:endParaRPr dirty="0"/>
          </a:p>
          <a:p>
            <a:r>
              <a:rPr b="1" dirty="0"/>
              <a:t>Preprocessing</a:t>
            </a:r>
          </a:p>
          <a:p>
            <a:r>
              <a:rPr dirty="0"/>
              <a:t>SLR: Numeric columns; 80/20 train/test split (</a:t>
            </a:r>
            <a:r>
              <a:rPr dirty="0" err="1"/>
              <a:t>random_state</a:t>
            </a:r>
            <a:r>
              <a:rPr dirty="0"/>
              <a:t>=0)</a:t>
            </a:r>
          </a:p>
          <a:p>
            <a:r>
              <a:rPr dirty="0"/>
              <a:t>MLR: Map text experience → numbers; cast to numeric; fill missing as 0</a:t>
            </a:r>
          </a:p>
          <a:p>
            <a:endParaRPr dirty="0"/>
          </a:p>
          <a:p>
            <a:r>
              <a:rPr b="1" dirty="0"/>
              <a:t>Assumptions</a:t>
            </a:r>
          </a:p>
          <a:p>
            <a:r>
              <a:rPr dirty="0"/>
              <a:t>Score ranges valid; no scaling required for OLS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b="1" dirty="0"/>
              <a:t>Models</a:t>
            </a:r>
          </a:p>
          <a:p>
            <a:r>
              <a:rPr dirty="0"/>
              <a:t>Ordinary Least Squares via scikit-learn </a:t>
            </a:r>
            <a:r>
              <a:rPr dirty="0" err="1"/>
              <a:t>LinearRegression</a:t>
            </a:r>
            <a:r>
              <a:rPr dirty="0"/>
              <a:t> (</a:t>
            </a:r>
            <a:r>
              <a:rPr dirty="0" err="1"/>
              <a:t>fit_intercept</a:t>
            </a:r>
            <a:r>
              <a:rPr dirty="0"/>
              <a:t>=True)</a:t>
            </a:r>
          </a:p>
          <a:p>
            <a:endParaRPr dirty="0"/>
          </a:p>
          <a:p>
            <a:r>
              <a:rPr b="1" dirty="0"/>
              <a:t>Evaluation</a:t>
            </a:r>
          </a:p>
          <a:p>
            <a:r>
              <a:rPr dirty="0"/>
              <a:t>SLR: R² on held-out test set</a:t>
            </a:r>
          </a:p>
          <a:p>
            <a:r>
              <a:rPr dirty="0"/>
              <a:t>MLR: Point estimates for requested inputs</a:t>
            </a:r>
          </a:p>
          <a:p>
            <a:endParaRPr dirty="0"/>
          </a:p>
          <a:p>
            <a:r>
              <a:rPr b="1" dirty="0"/>
              <a:t>Rationale</a:t>
            </a:r>
          </a:p>
          <a:p>
            <a:r>
              <a:rPr dirty="0"/>
              <a:t>Baseline regressors with interpretability and low variance on small data</a:t>
            </a:r>
          </a:p>
          <a:p>
            <a:r>
              <a:rPr dirty="0"/>
              <a:t>Transparent coefficients and simple training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SLR Results (Income vs. Year)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07280" cy="4525963"/>
          </a:xfrm>
        </p:spPr>
        <p:txBody>
          <a:bodyPr>
            <a:normAutofit fontScale="77500" lnSpcReduction="20000"/>
          </a:bodyPr>
          <a:lstStyle/>
          <a:p>
            <a:r>
              <a:rPr b="1" dirty="0"/>
              <a:t>Metric</a:t>
            </a:r>
          </a:p>
          <a:p>
            <a:r>
              <a:rPr dirty="0"/>
              <a:t>Test R²: 76.22% (strong linear trend, residual variance expected)</a:t>
            </a:r>
          </a:p>
          <a:p>
            <a:r>
              <a:rPr b="1" dirty="0"/>
              <a:t>Sample Predictions (USD)</a:t>
            </a:r>
          </a:p>
          <a:p>
            <a:r>
              <a:rPr dirty="0"/>
              <a:t>Example pairs: (23487.89, 16622.67), (27680.30, 22739.43), (25164.85, 18987.38)</a:t>
            </a:r>
          </a:p>
          <a:p>
            <a:r>
              <a:rPr b="1" dirty="0"/>
              <a:t>Takeaway</a:t>
            </a:r>
          </a:p>
          <a:p>
            <a:r>
              <a:rPr dirty="0"/>
              <a:t>Linear trend captured well; some under/over-shoot on specific years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B2AC6-A3B1-DF83-BBA3-980805D3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223" y="1950720"/>
            <a:ext cx="3583576" cy="3696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MLR Results (Salary Prediction)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Inputs → Predicted Salary ($)</a:t>
            </a:r>
          </a:p>
          <a:p>
            <a:r>
              <a:rPr dirty="0"/>
              <a:t>(2, 9, 6) → 52783.41</a:t>
            </a:r>
          </a:p>
          <a:p>
            <a:r>
              <a:rPr dirty="0"/>
              <a:t>(10, 8, 7) → 76983.83</a:t>
            </a:r>
          </a:p>
          <a:p>
            <a:endParaRPr dirty="0"/>
          </a:p>
          <a:p>
            <a:r>
              <a:rPr b="1" dirty="0"/>
              <a:t>Interpretation</a:t>
            </a:r>
          </a:p>
          <a:p>
            <a:r>
              <a:rPr dirty="0"/>
              <a:t>Higher experience and strong scores align with higher predicted salaries</a:t>
            </a:r>
          </a:p>
          <a:p>
            <a:endParaRPr dirty="0"/>
          </a:p>
          <a:p>
            <a:r>
              <a:rPr b="1" dirty="0"/>
              <a:t>Notes</a:t>
            </a:r>
          </a:p>
          <a:p>
            <a:r>
              <a:rPr dirty="0"/>
              <a:t>Small dataset; predictions mainly illustrativ</a:t>
            </a:r>
            <a:r>
              <a:rPr lang="en-US" dirty="0"/>
              <a:t>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b="1" dirty="0"/>
              <a:t>Discussion</a:t>
            </a:r>
          </a:p>
          <a:p>
            <a:r>
              <a:rPr dirty="0"/>
              <a:t>SLR: Strong temporal signal; simple model suffices</a:t>
            </a:r>
          </a:p>
          <a:p>
            <a:r>
              <a:rPr dirty="0"/>
              <a:t>MLR: Reasonable estimates; interpretable effects</a:t>
            </a:r>
          </a:p>
          <a:p>
            <a:endParaRPr dirty="0"/>
          </a:p>
          <a:p>
            <a:r>
              <a:rPr b="1" dirty="0"/>
              <a:t>Limitations</a:t>
            </a:r>
          </a:p>
          <a:p>
            <a:r>
              <a:rPr dirty="0"/>
              <a:t>Small MLR dataset limits generalization</a:t>
            </a:r>
          </a:p>
          <a:p>
            <a:r>
              <a:rPr dirty="0"/>
              <a:t>OLS ignores nonlinearities without feature engineering</a:t>
            </a:r>
          </a:p>
          <a:p>
            <a:r>
              <a:rPr dirty="0"/>
              <a:t>Economic shocks not modeled in SLR</a:t>
            </a:r>
          </a:p>
          <a:p>
            <a:endParaRPr dirty="0"/>
          </a:p>
          <a:p>
            <a:r>
              <a:rPr b="1" dirty="0"/>
              <a:t>Improvements</a:t>
            </a:r>
          </a:p>
          <a:p>
            <a:r>
              <a:rPr dirty="0"/>
              <a:t>Larger datasets, cross-validation</a:t>
            </a:r>
          </a:p>
          <a:p>
            <a:r>
              <a:rPr dirty="0"/>
              <a:t>Regularization (Ridge/Lasso), richer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Conclusion</a:t>
            </a:r>
          </a:p>
          <a:p>
            <a:r>
              <a:rPr dirty="0"/>
              <a:t>SLR achieved 76.22% test R², indicating strong year–income link</a:t>
            </a:r>
          </a:p>
          <a:p>
            <a:r>
              <a:rPr dirty="0"/>
              <a:t>MLR produced plausible salary predictions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394</Words>
  <Application>Microsoft Office PowerPoint</Application>
  <PresentationFormat>On-screen Show (4:3)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Linear and Multiple Linear Regression: Implementation and Evaluation</vt:lpstr>
      <vt:lpstr>Problem &amp; Objectives</vt:lpstr>
      <vt:lpstr>Datasets &amp; Preprocessing</vt:lpstr>
      <vt:lpstr>Methodology</vt:lpstr>
      <vt:lpstr>SLR Results (Income vs. Year)</vt:lpstr>
      <vt:lpstr>MLR Results (Salary Prediction)</vt:lpstr>
      <vt:lpstr>Discussion &amp; Limitations</vt:lpstr>
      <vt:lpstr>Conclusion &amp;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Nouman Zahid</dc:creator>
  <cp:keywords/>
  <dc:description>generated using python-pptx</dc:description>
  <cp:lastModifiedBy>Nouman Zahid</cp:lastModifiedBy>
  <cp:revision>7</cp:revision>
  <dcterms:created xsi:type="dcterms:W3CDTF">2013-01-27T09:14:16Z</dcterms:created>
  <dcterms:modified xsi:type="dcterms:W3CDTF">2025-10-03T17:16:40Z</dcterms:modified>
  <cp:category/>
</cp:coreProperties>
</file>